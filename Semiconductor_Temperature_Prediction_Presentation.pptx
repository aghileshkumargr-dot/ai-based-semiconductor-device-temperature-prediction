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AI-Based Semiconductor Device Temperature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Capstone Project</a:t>
            </a:r>
          </a:p>
          <a:p>
            <a:pPr>
              <a:spcAft>
                <a:spcPts val="1600"/>
              </a:spcAft>
              <a:defRPr sz="2200"/>
            </a:pPr>
            <a:r>
              <a:t>Regression-based estimation of device temperature from electrical and thermal operating conditions</a:t>
            </a:r>
          </a:p>
          <a:p>
            <a:pPr>
              <a:spcAft>
                <a:spcPts val="1600"/>
              </a:spcAft>
              <a:defRPr sz="2200"/>
            </a:pPr>
            <a:r>
              <a:t>Python • Pandas •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Device temperature is influenced by current, voltage, load, ambient temperature, power loss, and cooling.</a:t>
            </a:r>
          </a:p>
          <a:p>
            <a:pPr>
              <a:spcAft>
                <a:spcPts val="1600"/>
              </a:spcAft>
              <a:defRPr sz="2200"/>
            </a:pPr>
            <a:r>
              <a:t>Build a model to estimate device temperature.</a:t>
            </a:r>
          </a:p>
          <a:p>
            <a:pPr>
              <a:spcAft>
                <a:spcPts val="1600"/>
              </a:spcAft>
              <a:defRPr sz="2200"/>
            </a:pPr>
            <a:r>
              <a:t>Compare predictions with reference values using MAE, RMSE, and R².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2,400 reproducible synthetic operating samples</a:t>
            </a:r>
          </a:p>
          <a:p>
            <a:pPr>
              <a:spcAft>
                <a:spcPts val="1600"/>
              </a:spcAft>
              <a:defRPr sz="2200"/>
            </a:pPr>
            <a:r>
              <a:t>Inputs: current (A), voltage (V), ambient temperature (°C), load fraction</a:t>
            </a:r>
          </a:p>
          <a:p>
            <a:pPr>
              <a:spcAft>
                <a:spcPts val="1600"/>
              </a:spcAft>
              <a:defRPr sz="2200"/>
            </a:pPr>
            <a:r>
              <a:t>Thermal context: estimated power loss, thermal resistance, heat-sink factor</a:t>
            </a:r>
          </a:p>
          <a:p>
            <a:pPr>
              <a:spcAft>
                <a:spcPts val="1600"/>
              </a:spcAft>
              <a:defRPr sz="2200"/>
            </a:pPr>
            <a:r>
              <a:t>Target: device_temperature_C (°C)</a:t>
            </a:r>
          </a:p>
          <a:p>
            <a:pPr>
              <a:spcAft>
                <a:spcPts val="1600"/>
              </a:spcAft>
              <a:defRPr sz="2200"/>
            </a:pPr>
            <a:r>
              <a:t>Engineered features: current², voltage × current, power loss /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Generate/import dataset and inspect missing values and ranges</a:t>
            </a:r>
          </a:p>
          <a:p>
            <a:pPr>
              <a:spcAft>
                <a:spcPts val="1600"/>
              </a:spcAft>
              <a:defRPr sz="2200"/>
            </a:pPr>
            <a:r>
              <a:t>Engineer physically motivated features</a:t>
            </a:r>
          </a:p>
          <a:p>
            <a:pPr>
              <a:spcAft>
                <a:spcPts val="1600"/>
              </a:spcAft>
              <a:defRPr sz="2200"/>
            </a:pPr>
            <a:r>
              <a:t>80/20 train-test split with fixed random seed</a:t>
            </a:r>
          </a:p>
          <a:p>
            <a:pPr>
              <a:spcAft>
                <a:spcPts val="1600"/>
              </a:spcAft>
              <a:defRPr sz="2200"/>
            </a:pPr>
            <a:r>
              <a:t>Train Random Forest, Gradient Boosting, and Linear Regression</a:t>
            </a:r>
          </a:p>
          <a:p>
            <a:pPr>
              <a:spcAft>
                <a:spcPts val="1600"/>
              </a:spcAft>
              <a:defRPr sz="2200"/>
            </a:pPr>
            <a:r>
              <a:t>Select model with lowest test RMSE and save it for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Actual vs Predicted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Prediction Trend</a:t>
            </a:r>
          </a:p>
        </p:txBody>
      </p:sp>
      <p:pic>
        <p:nvPicPr>
          <p:cNvPr id="3" name="Picture 2" descr="predic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Random Forest: MAE 1.24 °C | RMSE 1.85 °C | R² 0.964</a:t>
            </a:r>
          </a:p>
          <a:p>
            <a:pPr>
              <a:spcAft>
                <a:spcPts val="1600"/>
              </a:spcAft>
              <a:defRPr sz="2200"/>
            </a:pPr>
            <a:r>
              <a:t>Gradient Boosting: MAE 1.14 °C | RMSE 1.65 °C | R² 0.971</a:t>
            </a:r>
          </a:p>
          <a:p>
            <a:pPr>
              <a:spcAft>
                <a:spcPts val="1600"/>
              </a:spcAft>
              <a:defRPr sz="2200"/>
            </a:pPr>
            <a:r>
              <a:t>Linear Regression: MAE 1.23 °C | RMSE 1.70 °C | R² 0.970</a:t>
            </a:r>
          </a:p>
          <a:p>
            <a:pPr>
              <a:spcAft>
                <a:spcPts val="1600"/>
              </a:spcAft>
              <a:defRPr sz="2200"/>
            </a:pPr>
            <a:r>
              <a:t>Selected model: Gradient Boosting</a:t>
            </a:r>
          </a:p>
          <a:p>
            <a:pPr>
              <a:spcAft>
                <a:spcPts val="1600"/>
              </a:spcAft>
              <a:defRPr sz="2200"/>
            </a:pPr>
            <a:r>
              <a:t>Metrics are measured on a held-out synthetic test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Complete ML workflow delivered: dataset, features, models, metrics, graphs, source code, report, and dashboard.</a:t>
            </a:r>
          </a:p>
          <a:p>
            <a:pPr>
              <a:spcAft>
                <a:spcPts val="1600"/>
              </a:spcAft>
              <a:defRPr sz="2200"/>
            </a:pPr>
            <a:r>
              <a:t>Replace synthetic data with calibrated measurements or LTspice/electrothermal simulation.</a:t>
            </a:r>
          </a:p>
          <a:p>
            <a:pPr>
              <a:spcAft>
                <a:spcPts val="1600"/>
              </a:spcAft>
              <a:defRPr sz="2200"/>
            </a:pPr>
            <a:r>
              <a:t>Validate across devices, packages, loads, and ambient conditions.</a:t>
            </a:r>
          </a:p>
          <a:p>
            <a:pPr>
              <a:spcAft>
                <a:spcPts val="1600"/>
              </a:spcAft>
              <a:defRPr sz="2200"/>
            </a:pPr>
            <a:r>
              <a:t>Use datasheet limits and hardware protection independently of ML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